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418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14834EB-287C-D56E-3DEA-0E07FD07AB1E}"/>
              </a:ext>
            </a:extLst>
          </p:cNvPr>
          <p:cNvSpPr txBox="1"/>
          <p:nvPr/>
        </p:nvSpPr>
        <p:spPr>
          <a:xfrm>
            <a:off x="183848" y="960302"/>
            <a:ext cx="12008152" cy="3947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dirty="0">
                <a:effectLst/>
                <a:latin typeface="-apple-system"/>
              </a:rPr>
              <a:t> </a:t>
            </a:r>
          </a:p>
          <a:p>
            <a:pPr>
              <a:buNone/>
            </a:pPr>
            <a:r>
              <a:rPr lang="en-GB" sz="2000" b="1" dirty="0">
                <a:effectLst/>
                <a:latin typeface="-apple-system"/>
              </a:rPr>
              <a:t>Agenda</a:t>
            </a:r>
            <a:endParaRPr lang="en-GB" sz="2000" dirty="0">
              <a:effectLst/>
              <a:latin typeface="-apple-system"/>
            </a:endParaRPr>
          </a:p>
          <a:p>
            <a:pPr>
              <a:buNone/>
            </a:pPr>
            <a:r>
              <a:rPr lang="en-GB" sz="2000" dirty="0">
                <a:effectLst/>
                <a:latin typeface="-apple-system"/>
              </a:rPr>
              <a:t> 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effectLst/>
                <a:latin typeface="-apple-system"/>
              </a:rPr>
              <a:t>Introduction and Welcome to Pedro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effectLst/>
                <a:latin typeface="-apple-system"/>
              </a:rPr>
              <a:t>Calibration status (Martin/Oksana) </a:t>
            </a:r>
          </a:p>
          <a:p>
            <a:pPr lvl="0"/>
            <a:endParaRPr lang="en-GB" sz="2000" dirty="0">
              <a:effectLst/>
              <a:latin typeface="-apple-system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GB" sz="2000" dirty="0">
                <a:effectLst/>
                <a:latin typeface="-apple-system"/>
              </a:rPr>
              <a:t>V7 Renovation – Data Storage (Open Discussion) - 1) whether or not we have any labelling coming up (and data to support it) and 2) whether the labelled data in V7 platform is backed up anywhere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2000" dirty="0">
                <a:effectLst/>
                <a:latin typeface="-apple-system"/>
              </a:rPr>
              <a:t>Focal Sensitivity Analysis — Edison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2000" dirty="0">
                <a:effectLst/>
                <a:latin typeface="-apple-system"/>
              </a:rPr>
              <a:t>Variance Analysis — Santiago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2000" dirty="0">
                <a:effectLst/>
                <a:latin typeface="-apple-system"/>
              </a:rPr>
              <a:t>Recalibration Update — Mario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2000" dirty="0">
                <a:effectLst/>
                <a:latin typeface="-apple-system"/>
              </a:rPr>
              <a:t>Additional Updates and Discussion — Abi and Oksana</a:t>
            </a:r>
          </a:p>
          <a:p>
            <a:pPr>
              <a:buNone/>
            </a:pPr>
            <a:r>
              <a:rPr lang="en-GB" sz="1050" dirty="0">
                <a:effectLst/>
                <a:latin typeface="-apple-system"/>
              </a:rPr>
              <a:t>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92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78728F-E0E9-45B5-A5C2-7E80AFD16D0C}"/>
              </a:ext>
            </a:extLst>
          </p:cNvPr>
          <p:cNvSpPr>
            <a:spLocks noGrp="1"/>
          </p:cNvSpPr>
          <p:nvPr/>
        </p:nvSpPr>
        <p:spPr>
          <a:xfrm>
            <a:off x="320040" y="243114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4000" b="1" dirty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Focal Degradation Analysis</a:t>
            </a:r>
            <a:endParaRPr sz="40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9F96C61-5470-C0BA-9A36-5AFB2E7B33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89"/>
          <a:stretch>
            <a:fillRect/>
          </a:stretch>
        </p:blipFill>
        <p:spPr>
          <a:xfrm>
            <a:off x="7759240" y="388854"/>
            <a:ext cx="2029224" cy="597807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A5820970-2263-06AA-14B8-CF78ECDFA62E}"/>
                  </a:ext>
                </a:extLst>
              </p:cNvPr>
              <p:cNvSpPr txBox="1"/>
              <p:nvPr/>
            </p:nvSpPr>
            <p:spPr>
              <a:xfrm>
                <a:off x="358019" y="1398860"/>
                <a:ext cx="7184571" cy="4449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GB" dirty="0"/>
                  <a:t>For every image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, the absolute percentage change is: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=100</m:t>
                      </m:r>
                      <m:r>
                        <m:rPr>
                          <m:nor/>
                        </m:rPr>
                        <a:rPr lang="en-GB" b="0" i="0">
                          <a:latin typeface="Cambria Math" panose="02040503050406030204" pitchFamily="18" charset="0"/>
                        </a:rPr>
                        <m:t> </m:t>
                      </m:r>
                      <m:f>
                        <m:fPr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en-GB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 panose="02040503050406030204" pitchFamily="18" charset="0"/>
                                </a:rPr>
                                <m:t>anchor</m:t>
                              </m:r>
                            </m:sub>
                          </m:sSub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∣</m:t>
                          </m:r>
                        </m:num>
                        <m:den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en-GB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 panose="02040503050406030204" pitchFamily="18" charset="0"/>
                                </a:rPr>
                                <m:t>anchor</m:t>
                              </m:r>
                            </m:sub>
                          </m:sSub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∣</m:t>
                          </m:r>
                        </m:den>
                      </m:f>
                    </m:oMath>
                  </m:oMathPara>
                </a14:m>
                <a:endParaRPr lang="en-GB" b="0" dirty="0"/>
              </a:p>
              <a:p>
                <a:pPr>
                  <a:buNone/>
                </a:pPr>
                <a:r>
                  <a:rPr lang="en-GB" dirty="0"/>
                  <a:t>Then, for each focal-distance bin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, the value plotted is: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i="0">
                                  <a:latin typeface="Cambria Math" panose="02040503050406030204" pitchFamily="18" charset="0"/>
                                </a:rPr>
                                <m:t>median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m:rPr>
                                  <m:nor/>
                                </m:rPr>
                                <a:rPr lang="en-GB" b="0" i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GB" b="0" i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GB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GB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b="0" i="0">
                                  <a:latin typeface="Cambria Math" panose="02040503050406030204" pitchFamily="18" charset="0"/>
                                </a:rPr>
                                <m:t>∣∈</m:t>
                              </m:r>
                              <m:r>
                                <a:rPr lang="en-GB" b="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d>
                            <m:dPr>
                              <m:ctrlPr>
                                <a:rPr lang="en-GB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  <m:f>
                                <m:fPr>
                                  <m:ctrlPr>
                                    <a:rPr lang="en-GB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sSub>
                                    <m:sSubPr>
                                      <m:ctrlPr>
                                        <a:rPr lang="en-GB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GB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b="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GB" b="0" i="0">
                                          <a:latin typeface="Cambria Math" panose="02040503050406030204" pitchFamily="18" charset="0"/>
                                        </a:rPr>
                                        <m:t>anchor</m:t>
                                      </m:r>
                                    </m:sub>
                                  </m:sSub>
                                  <m:r>
                                    <a:rPr lang="en-GB" b="0" i="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</m:num>
                                <m:den>
                                  <m:r>
                                    <a:rPr lang="en-GB" b="0" i="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sSub>
                                    <m:sSubPr>
                                      <m:ctrlPr>
                                        <a:rPr lang="en-GB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GB" b="0" i="0">
                                          <a:latin typeface="Cambria Math" panose="02040503050406030204" pitchFamily="18" charset="0"/>
                                        </a:rPr>
                                        <m:t>anchor</m:t>
                                      </m:r>
                                    </m:sub>
                                  </m:sSub>
                                  <m:r>
                                    <a:rPr lang="en-GB" b="0" i="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</m:den>
                              </m:f>
                            </m:e>
                          </m:d>
                        </m:e>
                      </m:borderBox>
                    </m:oMath>
                  </m:oMathPara>
                </a14:m>
                <a:endParaRPr lang="en-GB" b="0" dirty="0"/>
              </a:p>
              <a:p>
                <a:pPr>
                  <a:buNone/>
                </a:pPr>
                <a:r>
                  <a:rPr lang="en-GB" dirty="0"/>
                  <a:t>Where: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: model output for the evaluated image.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i="0">
                            <a:latin typeface="Cambria Math" panose="02040503050406030204" pitchFamily="18" charset="0"/>
                          </a:rPr>
                          <m:t>anchor</m:t>
                        </m:r>
                      </m:sub>
                    </m:sSub>
                  </m:oMath>
                </a14:m>
                <a:r>
                  <a:rPr lang="en-GB" dirty="0"/>
                  <a:t>: output from the closest sampled image to the system-selected focal plane.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GB" i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0">
                        <a:latin typeface="Cambria Math" panose="02040503050406030204" pitchFamily="18" charset="0"/>
                      </a:rPr>
                      <m:t>∣=∣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i="0"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  <m:r>
                      <a:rPr lang="en-GB" i="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en-GB" dirty="0"/>
                  <a:t>: focal distance.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dirty="0"/>
                  <a:t>If two images are equally close, their output mean is used as the anchor. (The closest sampled focal image was used as the anchor.)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dirty="0"/>
                  <a:t>The analysis starts at bin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GB" b="0" i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GB" b="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GB" dirty="0"/>
                  <a:t>, because the images within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GB" i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∣≤1</m:t>
                    </m:r>
                  </m:oMath>
                </a14:m>
                <a:r>
                  <a:rPr lang="en-GB" dirty="0"/>
                  <a:t>define the ancho</a:t>
                </a:r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A5820970-2263-06AA-14B8-CF78ECDFA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019" y="1398860"/>
                <a:ext cx="7184571" cy="4449744"/>
              </a:xfrm>
              <a:prstGeom prst="rect">
                <a:avLst/>
              </a:prstGeom>
              <a:blipFill>
                <a:blip r:embed="rId4"/>
                <a:stretch>
                  <a:fillRect l="-764" t="-548"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0228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focal_degradation_median_with_n.png">
            <a:extLst>
              <a:ext uri="{FF2B5EF4-FFF2-40B4-BE49-F238E27FC236}">
                <a16:creationId xmlns:a16="http://schemas.microsoft.com/office/drawing/2014/main" id="{9A16B1FA-978E-E4CF-3C01-C6368E14D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125" y="847131"/>
            <a:ext cx="9416143" cy="5649686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D44A178B-5D35-6D11-0D8C-0D3174605DB6}"/>
              </a:ext>
            </a:extLst>
          </p:cNvPr>
          <p:cNvSpPr txBox="1"/>
          <p:nvPr/>
        </p:nvSpPr>
        <p:spPr>
          <a:xfrm>
            <a:off x="169334" y="361183"/>
            <a:ext cx="105615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The graph measures the </a:t>
            </a:r>
            <a:r>
              <a:rPr lang="en-GB" sz="1600" b="1" dirty="0"/>
              <a:t>magnitude</a:t>
            </a:r>
            <a:r>
              <a:rPr lang="en-GB" sz="1600" dirty="0"/>
              <a:t> of the change, not whether the output increased or decreased.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112A63EA-2C5A-30B2-434A-F6BA2C537130}"/>
              </a:ext>
            </a:extLst>
          </p:cNvPr>
          <p:cNvCxnSpPr/>
          <p:nvPr/>
        </p:nvCxnSpPr>
        <p:spPr>
          <a:xfrm>
            <a:off x="464457" y="4605867"/>
            <a:ext cx="11079238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972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C43868-866B-4AFE-A926-39794077846F}"/>
              </a:ext>
            </a:extLst>
          </p:cNvPr>
          <p:cNvSpPr>
            <a:spLocks noGrp="1"/>
          </p:cNvSpPr>
          <p:nvPr/>
        </p:nvSpPr>
        <p:spPr>
          <a:xfrm>
            <a:off x="502919" y="256032"/>
            <a:ext cx="11118185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GB" dirty="0"/>
              <a:t>Proportion of images whose output stays within ±10% of the in-focus anchor as the image moves away from the system-selected focal plane.</a:t>
            </a:r>
            <a:endParaRPr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EC20457-1891-09D6-F0F5-1CCA0CE59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138" y="894903"/>
            <a:ext cx="9663068" cy="576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775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AE339920-582E-55AC-3565-61DB310C11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691223"/>
              </p:ext>
            </p:extLst>
          </p:nvPr>
        </p:nvGraphicFramePr>
        <p:xfrm>
          <a:off x="183847" y="175026"/>
          <a:ext cx="11824305" cy="422970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64861">
                  <a:extLst>
                    <a:ext uri="{9D8B030D-6E8A-4147-A177-3AD203B41FA5}">
                      <a16:colId xmlns:a16="http://schemas.microsoft.com/office/drawing/2014/main" val="1392710898"/>
                    </a:ext>
                  </a:extLst>
                </a:gridCol>
                <a:gridCol w="2364861">
                  <a:extLst>
                    <a:ext uri="{9D8B030D-6E8A-4147-A177-3AD203B41FA5}">
                      <a16:colId xmlns:a16="http://schemas.microsoft.com/office/drawing/2014/main" val="3717061791"/>
                    </a:ext>
                  </a:extLst>
                </a:gridCol>
                <a:gridCol w="2364861">
                  <a:extLst>
                    <a:ext uri="{9D8B030D-6E8A-4147-A177-3AD203B41FA5}">
                      <a16:colId xmlns:a16="http://schemas.microsoft.com/office/drawing/2014/main" val="2446710572"/>
                    </a:ext>
                  </a:extLst>
                </a:gridCol>
                <a:gridCol w="2364861">
                  <a:extLst>
                    <a:ext uri="{9D8B030D-6E8A-4147-A177-3AD203B41FA5}">
                      <a16:colId xmlns:a16="http://schemas.microsoft.com/office/drawing/2014/main" val="1913816828"/>
                    </a:ext>
                  </a:extLst>
                </a:gridCol>
                <a:gridCol w="2364861">
                  <a:extLst>
                    <a:ext uri="{9D8B030D-6E8A-4147-A177-3AD203B41FA5}">
                      <a16:colId xmlns:a16="http://schemas.microsoft.com/office/drawing/2014/main" val="2711394408"/>
                    </a:ext>
                  </a:extLst>
                </a:gridCol>
              </a:tblGrid>
              <a:tr h="156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Output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Median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Within ±10%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Outside ±10%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Interpretation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3221997672"/>
                  </a:ext>
                </a:extLst>
              </a:tr>
              <a:tr h="627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PLT raw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/>
                        <a:t>8.3%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/>
                        <a:t>60.2%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/>
                        <a:t>39.8%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50"/>
                        <a:t>Low median, moderate stability: close to the threshold, but with wide spread.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2339097806"/>
                  </a:ext>
                </a:extLst>
              </a:tr>
              <a:tr h="509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PLT v2.15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/>
                        <a:t>22.5%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/>
                        <a:t>24.3%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/>
                        <a:t>75.7%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50"/>
                        <a:t>High median, low stability: degradation across the board.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3551259018"/>
                  </a:ext>
                </a:extLst>
              </a:tr>
              <a:tr h="505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RBC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/>
                        <a:t>1.5%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/>
                        <a:t>97.1%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/>
                        <a:t>2.9%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50" dirty="0"/>
                        <a:t>Low median, high stability: genuinely robust.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3564801380"/>
                  </a:ext>
                </a:extLst>
              </a:tr>
              <a:tr h="744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HCT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/>
                        <a:t>18.7%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/>
                        <a:t>1.0%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/>
                        <a:t>99.0%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50"/>
                        <a:t>High median, extremely low stability: degradation is essentially systematic.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4206618847"/>
                  </a:ext>
                </a:extLst>
              </a:tr>
              <a:tr h="509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WBC v2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/>
                        <a:t>30.1%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/>
                        <a:t>21.4%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/>
                        <a:t>78.6%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50"/>
                        <a:t>High median, low stability: degradation across the board.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353666131"/>
                  </a:ext>
                </a:extLst>
              </a:tr>
              <a:tr h="392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MCV boost mean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/>
                        <a:t>4.7%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/>
                        <a:t>91.2%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/>
                        <a:t>8.8%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50"/>
                        <a:t>Low median, high stability: robust behaviour.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3030445230"/>
                  </a:ext>
                </a:extLst>
              </a:tr>
              <a:tr h="627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MCH scaled volume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/>
                        <a:t>5.1%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/>
                        <a:t>79.0%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/>
                        <a:t>21.0%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50" dirty="0"/>
                        <a:t>Low median, moderate stability: typically stable, but with a problematic tail.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3745464662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CB4D084B-6BD2-4135-514F-B6F4BB093ECB}"/>
              </a:ext>
            </a:extLst>
          </p:cNvPr>
          <p:cNvSpPr txBox="1"/>
          <p:nvPr/>
        </p:nvSpPr>
        <p:spPr>
          <a:xfrm>
            <a:off x="624113" y="4772422"/>
            <a:ext cx="111759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GB" sz="1600" b="1" dirty="0"/>
              <a:t>Low median + high stability</a:t>
            </a:r>
            <a:r>
              <a:rPr lang="en-GB" sz="1600" dirty="0"/>
              <a:t> — robust: defocus barely moves the output. </a:t>
            </a:r>
            <a:r>
              <a:rPr lang="en-GB" sz="1600" i="1" dirty="0"/>
              <a:t>RBC, MCV boost mean.</a:t>
            </a:r>
            <a:endParaRPr lang="en-GB" sz="1600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GB" sz="1600" b="1" dirty="0"/>
              <a:t>Low median + moderate stability</a:t>
            </a:r>
            <a:r>
              <a:rPr lang="en-GB" sz="1600" dirty="0"/>
              <a:t> — typically fine, with a tail of unstable cases. </a:t>
            </a:r>
            <a:r>
              <a:rPr lang="en-GB" sz="1600" i="1" dirty="0"/>
              <a:t>MCH scaled volume, PLT raw.</a:t>
            </a:r>
            <a:endParaRPr lang="en-GB" sz="1600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GB" sz="1600" b="1" dirty="0"/>
              <a:t>High median + low stability</a:t>
            </a:r>
            <a:r>
              <a:rPr lang="en-GB" sz="1600" dirty="0"/>
              <a:t> — widespread degradation: the error is both large and scattered. </a:t>
            </a:r>
            <a:r>
              <a:rPr lang="en-GB" sz="1600" i="1" dirty="0"/>
              <a:t>WBC v2, PLT v2.15.</a:t>
            </a:r>
            <a:endParaRPr lang="en-GB" sz="1600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GB" sz="1600" b="1" dirty="0"/>
              <a:t>High median + near-zero stability</a:t>
            </a:r>
            <a:r>
              <a:rPr lang="en-GB" sz="1600" dirty="0"/>
              <a:t> — systematic drift: the output moves in one direction with defocus, so almost every image clears the threshold. </a:t>
            </a:r>
            <a:r>
              <a:rPr lang="en-GB" sz="1600" i="1" dirty="0"/>
              <a:t>HCT.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072313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482</Words>
  <Application>Microsoft Office PowerPoint</Application>
  <DocSecurity>0</DocSecurity>
  <PresentationFormat>Panorámica</PresentationFormat>
  <Paragraphs>69</Paragraphs>
  <Slides>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-apple-system</vt:lpstr>
      <vt:lpstr>Aptos</vt:lpstr>
      <vt:lpstr>Aptos Display</vt:lpstr>
      <vt:lpstr>Arial</vt:lpstr>
      <vt:lpstr>Cambria Math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Edison Vazquez Gordillo</cp:lastModifiedBy>
  <cp:revision>1</cp:revision>
  <dcterms:created xsi:type="dcterms:W3CDTF">2026-09-01T13:20:04Z</dcterms:created>
  <dcterms:modified xsi:type="dcterms:W3CDTF">2026-09-08T13:39:08Z</dcterms:modified>
</cp:coreProperties>
</file>